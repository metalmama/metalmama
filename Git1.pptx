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CCE0F1"/>
          </a:solidFill>
        </a:fill>
      </a:tcStyle>
    </a:wholeTbl>
    <a:band2H>
      <a:tcTxStyle b="def" i="def"/>
      <a:tcStyle>
        <a:tcBdr/>
        <a:fill>
          <a:solidFill>
            <a:srgbClr val="E7F0F8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381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381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D9E8D1"/>
          </a:solidFill>
        </a:fill>
      </a:tcStyle>
    </a:wholeTbl>
    <a:band2H>
      <a:tcTxStyle b="def" i="def"/>
      <a:tcStyle>
        <a:tcBdr/>
        <a:fill>
          <a:solidFill>
            <a:srgbClr val="EDF4E9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381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381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EACBD1"/>
          </a:solidFill>
        </a:fill>
      </a:tcStyle>
    </a:wholeTbl>
    <a:band2H>
      <a:tcTxStyle b="def" i="def"/>
      <a:tcStyle>
        <a:tcBdr/>
        <a:fill>
          <a:solidFill>
            <a:srgbClr val="F5E7E9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381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381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222222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22222"/>
              </a:solidFill>
              <a:prstDash val="solid"/>
              <a:round/>
            </a:ln>
          </a:top>
          <a:bottom>
            <a:ln w="254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22222"/>
          </a:solidFill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round/>
            </a:ln>
          </a:top>
          <a:bottom>
            <a:ln w="254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381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381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222222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solidFill>
            <a:srgbClr val="222222">
              <a:alpha val="20000"/>
            </a:srgbClr>
          </a:solidFill>
        </a:fill>
      </a:tcStyle>
    </a:firstCol>
    <a:la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50800" cap="flat">
              <a:solidFill>
                <a:srgbClr val="222222"/>
              </a:solidFill>
              <a:prstDash val="solid"/>
              <a:round/>
            </a:ln>
          </a:top>
          <a:bottom>
            <a:ln w="127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222222"/>
        </a:fontRef>
        <a:srgbClr val="222222"/>
      </a:tcTxStyle>
      <a:tcStyle>
        <a:tcBdr>
          <a:left>
            <a:ln w="12700" cap="flat">
              <a:solidFill>
                <a:srgbClr val="222222"/>
              </a:solidFill>
              <a:prstDash val="solid"/>
              <a:round/>
            </a:ln>
          </a:left>
          <a:right>
            <a:ln w="12700" cap="flat">
              <a:solidFill>
                <a:srgbClr val="222222"/>
              </a:solidFill>
              <a:prstDash val="solid"/>
              <a:round/>
            </a:ln>
          </a:right>
          <a:top>
            <a:ln w="12700" cap="flat">
              <a:solidFill>
                <a:srgbClr val="222222"/>
              </a:solidFill>
              <a:prstDash val="solid"/>
              <a:round/>
            </a:ln>
          </a:top>
          <a:bottom>
            <a:ln w="254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solidFill>
                <a:srgbClr val="222222"/>
              </a:solidFill>
              <a:prstDash val="solid"/>
              <a:round/>
            </a:ln>
          </a:insideH>
          <a:insideV>
            <a:ln w="12700" cap="flat">
              <a:solidFill>
                <a:srgbClr val="22222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 och u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– Horisontel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och undertext, alt.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xfrm>
            <a:off x="23013224" y="5842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– Centrer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Vertik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je"/>
          <p:cNvSpPr/>
          <p:nvPr/>
        </p:nvSpPr>
        <p:spPr>
          <a:xfrm flipV="1">
            <a:off x="11049000" y="8635797"/>
            <a:ext cx="12572997" cy="205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Bild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0" name="Title Text"/>
          <p:cNvSpPr txBox="1"/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– Uppti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>
            <a:lvl1pPr defTabSz="647700">
              <a:spcBef>
                <a:spcPts val="0"/>
              </a:spcBef>
              <a:defRPr spc="180" sz="3600">
                <a:solidFill>
                  <a:srgbClr val="838787"/>
                </a:solidFill>
              </a:defRPr>
            </a:lvl1pPr>
            <a:lvl2pPr marL="111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2pPr>
            <a:lvl3pPr marL="174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3pPr>
            <a:lvl4pPr marL="238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4pPr>
            <a:lvl5pPr marL="301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defRPr sz="8700"/>
            </a:lvl1pPr>
          </a:lstStyle>
          <a:p>
            <a:pPr/>
            <a:r>
              <a:t>Title Text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>
            <a:lvl1pPr defTabSz="647700">
              <a:spcBef>
                <a:spcPts val="0"/>
              </a:spcBef>
              <a:defRPr spc="180" sz="3600">
                <a:solidFill>
                  <a:srgbClr val="838787"/>
                </a:solidFill>
              </a:defRPr>
            </a:lvl1pPr>
            <a:lvl2pPr marL="111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2pPr>
            <a:lvl3pPr marL="174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3pPr>
            <a:lvl4pPr marL="238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4pPr>
            <a:lvl5pPr marL="301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defRPr sz="8700"/>
            </a:lvl1pPr>
          </a:lstStyle>
          <a:p>
            <a:pPr/>
            <a:r>
              <a:t>Title Text</a:t>
            </a:r>
          </a:p>
        </p:txBody>
      </p:sp>
      <p:sp>
        <p:nvSpPr>
          <p:cNvPr id="72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punktform, alt.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>
            <a:lvl1pPr defTabSz="647700">
              <a:spcBef>
                <a:spcPts val="0"/>
              </a:spcBef>
              <a:defRPr spc="180" sz="3600">
                <a:solidFill>
                  <a:srgbClr val="838787"/>
                </a:solidFill>
              </a:defRPr>
            </a:lvl1pPr>
            <a:lvl2pPr marL="111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2pPr>
            <a:lvl3pPr marL="174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3pPr>
            <a:lvl4pPr marL="238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4pPr>
            <a:lvl5pPr marL="301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defRPr sz="87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r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>
            <a:lvl1pPr defTabSz="647700">
              <a:spcBef>
                <a:spcPts val="0"/>
              </a:spcBef>
              <a:defRPr spc="180" sz="3600">
                <a:solidFill>
                  <a:srgbClr val="838787"/>
                </a:solidFill>
              </a:defRPr>
            </a:lvl1pPr>
            <a:lvl2pPr marL="111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2pPr>
            <a:lvl3pPr marL="174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3pPr>
            <a:lvl4pPr marL="238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4pPr>
            <a:lvl5pPr marL="301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Bild"/>
          <p:cNvSpPr/>
          <p:nvPr>
            <p:ph type="pic" idx="21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4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defRPr sz="8700"/>
            </a:lvl1pPr>
          </a:lstStyle>
          <a:p>
            <a:pPr/>
            <a:r>
              <a:t>Title Text</a:t>
            </a:r>
          </a:p>
        </p:txBody>
      </p:sp>
      <p:sp>
        <p:nvSpPr>
          <p:cNvPr id="95" name="Brödtext nivå ett…"/>
          <p:cNvSpPr txBox="1"/>
          <p:nvPr>
            <p:ph type="body" sz="half" idx="22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>
            <a:lvl1pPr defTabSz="647700">
              <a:spcBef>
                <a:spcPts val="0"/>
              </a:spcBef>
              <a:defRPr spc="180" sz="3600">
                <a:solidFill>
                  <a:srgbClr val="838787"/>
                </a:solidFill>
              </a:defRPr>
            </a:lvl1pPr>
            <a:lvl2pPr marL="111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2pPr>
            <a:lvl3pPr marL="174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3pPr>
            <a:lvl4pPr marL="2381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4pPr>
            <a:lvl5pPr marL="3016250" indent="-476250" defTabSz="647700">
              <a:spcBef>
                <a:spcPts val="0"/>
              </a:spcBef>
              <a:buSzPct val="104999"/>
              <a:buChar char="‣"/>
              <a:defRPr spc="180" sz="3600">
                <a:solidFill>
                  <a:srgbClr val="83878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3 per 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Bild"/>
          <p:cNvSpPr/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4" name="Bild"/>
          <p:cNvSpPr/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5" name="Bild"/>
          <p:cNvSpPr/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Linje"/>
          <p:cNvSpPr/>
          <p:nvPr/>
        </p:nvSpPr>
        <p:spPr>
          <a:xfrm flipV="1">
            <a:off x="761998" y="1396630"/>
            <a:ext cx="22860001" cy="371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Fyrkantig pratbubbla"/>
          <p:cNvSpPr/>
          <p:nvPr/>
        </p:nvSpPr>
        <p:spPr>
          <a:xfrm>
            <a:off x="876300" y="3314700"/>
            <a:ext cx="22631400" cy="7317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pPr>
          </a:p>
        </p:txBody>
      </p:sp>
      <p:sp>
        <p:nvSpPr>
          <p:cNvPr id="125" name="Body Level One…"/>
          <p:cNvSpPr txBox="1"/>
          <p:nvPr>
            <p:ph type="body" sz="quarter" idx="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  <a:lvl2pPr marL="2407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2pPr>
            <a:lvl3pPr marL="3042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3pPr>
            <a:lvl4pPr marL="3677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4pPr>
            <a:lvl5pPr marL="4312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Johnny Appleseed"/>
          <p:cNvSpPr txBox="1"/>
          <p:nvPr>
            <p:ph type="body" sz="quarter" idx="21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127" name="Text"/>
          <p:cNvSpPr txBox="1"/>
          <p:nvPr>
            <p:ph type="body" sz="quarter" idx="22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, alt.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  <a:lvl2pPr marL="2407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2pPr>
            <a:lvl3pPr marL="3042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3pPr>
            <a:lvl4pPr marL="3677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4pPr>
            <a:lvl5pPr marL="4312708" indent="-1772708">
              <a:spcBef>
                <a:spcPts val="0"/>
              </a:spcBef>
              <a:buSzPct val="104999"/>
              <a:buChar char="‣"/>
              <a:defRPr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Bild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37" name="Johnny Appleseed"/>
          <p:cNvSpPr txBox="1"/>
          <p:nvPr>
            <p:ph type="body" sz="quarter" idx="22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t, alt.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je"/>
          <p:cNvSpPr/>
          <p:nvPr/>
        </p:nvSpPr>
        <p:spPr>
          <a:xfrm flipV="1">
            <a:off x="761998" y="8635631"/>
            <a:ext cx="22860001" cy="371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23063203" y="609600"/>
            <a:ext cx="553195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0300" u="none">
          <a:solidFill>
            <a:schemeClr val="accent1"/>
          </a:solidFill>
          <a:uFillTx/>
          <a:latin typeface="DIN Condensed Bold"/>
          <a:ea typeface="DIN Condensed Bold"/>
          <a:cs typeface="DIN Condensed Bold"/>
          <a:sym typeface="DIN Condensed Bold"/>
        </a:defRPr>
      </a:lvl9pPr>
    </p:titleStyle>
    <p:bodyStyle>
      <a:lvl1pPr marL="0" marR="0" indent="0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0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0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0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0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4193645" marR="0" indent="-1018644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Pct val="104999"/>
        <a:buFontTx/>
        <a:buChar char="‣"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4828645" marR="0" indent="-1018645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Pct val="104999"/>
        <a:buFontTx/>
        <a:buChar char="‣"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5463645" marR="0" indent="-1018645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Pct val="104999"/>
        <a:buFontTx/>
        <a:buChar char="‣"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6098645" marR="0" indent="-1018645" algn="l" defTabSz="825500" rtl="0" latinLnBrk="0">
        <a:lnSpc>
          <a:spcPct val="80000"/>
        </a:lnSpc>
        <a:spcBef>
          <a:spcPts val="3200"/>
        </a:spcBef>
        <a:spcAft>
          <a:spcPts val="0"/>
        </a:spcAft>
        <a:buClrTx/>
        <a:buSzPct val="104999"/>
        <a:buFontTx/>
        <a:buChar char="‣"/>
        <a:tabLst/>
        <a:defRPr b="0" baseline="0" cap="all" i="0" spc="0" strike="noStrike" sz="7700" u="none">
          <a:solidFill>
            <a:srgbClr val="A6AAA9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bodyStyle>
    <p:otherStyle>
      <a:lvl1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0" algn="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GitHub.com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It 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792479">
              <a:defRPr sz="29000"/>
            </a:lvl1pPr>
          </a:lstStyle>
          <a:p>
            <a:pPr/>
            <a:r>
              <a:t>GIt 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IT är Va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Agenda</a:t>
            </a:r>
          </a:p>
        </p:txBody>
      </p:sp>
      <p:sp>
        <p:nvSpPr>
          <p:cNvPr id="172" name="Git enligt Google: ”Distributed Version Control System”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är versionshantering?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Versionshanteringssystem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Git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Kommandon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Datamodell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Branches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IT är Va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Vad är Versionshantering?</a:t>
            </a:r>
          </a:p>
        </p:txBody>
      </p:sp>
      <p:sp>
        <p:nvSpPr>
          <p:cNvPr id="175" name="Git enligt Google: ”Distributed Version Control System”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Versionhantering är hantering och tracking av förändringar I källkod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Versionhanteringsystem 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Program som hjälper oss att göra detta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Sparar förändringar I en databas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Om ett fel uppstår kan vi ta bort dom förändringar som orsakade problemet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IT är Va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Versionshanteringsystem</a:t>
            </a:r>
          </a:p>
        </p:txBody>
      </p:sp>
      <p:sp>
        <p:nvSpPr>
          <p:cNvPr id="178" name="Git enligt Google: ”Distributed Version Control System”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Tänk att du skriver på ett projekt mer flera. Med versionshantering har du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Backups (för säkerhet)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Behålla historik (för förståelse)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Experimentera (isolera nya förändringar)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Samarbete (flera kan jobba tillsammans på samma projekt)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Vi ska se hur git hjälper oss med alla dessa områden.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IT är Va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Versionshanteringsystem</a:t>
            </a:r>
          </a:p>
        </p:txBody>
      </p:sp>
      <p:sp>
        <p:nvSpPr>
          <p:cNvPr id="181" name="Git enligt Google: ”Distributed Version Control System”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096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Det finns 2 typer av versionshanteringssystem</a:t>
            </a:r>
          </a:p>
          <a:p>
            <a:pPr lvl="1" marL="12192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Centraliserade (cvs, subversion)</a:t>
            </a:r>
          </a:p>
          <a:p>
            <a:pPr lvl="2" marL="18288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En central server som har koll på förändringar</a:t>
            </a:r>
          </a:p>
          <a:p>
            <a:pPr lvl="2" marL="18288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Innebär att vi måste ha nätverk för att jobba med versionshantering</a:t>
            </a:r>
          </a:p>
          <a:p>
            <a:pPr lvl="1" marL="12192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Decentraliserade (git, mercurial)</a:t>
            </a:r>
          </a:p>
          <a:p>
            <a:pPr lvl="2" marL="18288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Alla har koll på alla förändringar (alla har kopior av central server)</a:t>
            </a:r>
          </a:p>
          <a:p>
            <a:pPr lvl="2" marL="18288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Git är defacto standard idag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Versionshanteringsystem</a:t>
            </a:r>
          </a:p>
        </p:txBody>
      </p:sp>
      <p:sp>
        <p:nvSpPr>
          <p:cNvPr id="184" name="Skicka och synkronisera förändringar i mappar (projekt)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Skicka och synkronisera förändringar i mappar (projekt)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Vi kallar våra projekt för repositories (databaserna)</a:t>
            </a:r>
          </a:p>
        </p:txBody>
      </p:sp>
      <p:pic>
        <p:nvPicPr>
          <p:cNvPr id="185" name="images.png" descr="imag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674" y="6548004"/>
            <a:ext cx="9995625" cy="5545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Kommandon</a:t>
            </a:r>
          </a:p>
        </p:txBody>
      </p:sp>
      <p:sp>
        <p:nvSpPr>
          <p:cNvPr id="188" name="Viktigaste kommandon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Viktigaste kommandon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clone … (hämtar repo från url och skapar kopia)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pull (hämtar senaste förändringar)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add … (väljer filer som ska ingå I commit)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commit … (skapar en commit – en förändring)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push (skickar våra senaste förändringar)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Kommandon</a:t>
            </a:r>
          </a:p>
        </p:txBody>
      </p:sp>
      <p:sp>
        <p:nvSpPr>
          <p:cNvPr id="191" name="Demo - GitHub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52705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Demo - GitHub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ett remote repository (projekt) på GitHub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repository till datorn (projekt1)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Committa en fil till repot (projekt1)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Pusha committen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nytt repository till datorn (projekt2)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Committa och pusha en ny förändring</a:t>
            </a:r>
          </a:p>
          <a:p>
            <a:pPr lvl="1" marL="1054100" indent="-527050" defTabSz="685165">
              <a:lnSpc>
                <a:spcPct val="100000"/>
              </a:lnSpc>
              <a:spcBef>
                <a:spcPts val="3200"/>
              </a:spcBef>
              <a:buClr>
                <a:schemeClr val="accent1"/>
              </a:buClr>
              <a:buFont typeface="Avenir Next Regular"/>
              <a:buChar char="▸"/>
              <a:defRPr cap="none" spc="0" sz="39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Hämta förändringar (projekt1)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Kommandon</a:t>
            </a:r>
          </a:p>
        </p:txBody>
      </p:sp>
      <p:sp>
        <p:nvSpPr>
          <p:cNvPr id="194" name="Kommandon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defTabSz="825500">
              <a:lnSpc>
                <a:spcPct val="100000"/>
              </a:lnSpc>
              <a:spcBef>
                <a:spcPts val="3900"/>
              </a:spcBef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pic>
        <p:nvPicPr>
          <p:cNvPr id="195" name="images (1).png" descr="images 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0655" y="3863969"/>
            <a:ext cx="11827827" cy="70050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Kommandon</a:t>
            </a:r>
          </a:p>
        </p:txBody>
      </p:sp>
      <p:sp>
        <p:nvSpPr>
          <p:cNvPr id="198" name="Uppgift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379728" indent="-379728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Uppgift</a:t>
            </a:r>
          </a:p>
          <a:p>
            <a:pPr lvl="1" marL="759458" indent="-379728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Registrera konto på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GitHub.com</a:t>
            </a:r>
          </a:p>
          <a:p>
            <a:pPr lvl="1" marL="759458" indent="-379728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repo på GitHub (test-project)</a:t>
            </a:r>
          </a:p>
          <a:p>
            <a:pPr lvl="1" marL="759458" indent="-379728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repot till din dator (lokalt)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clone &lt;url&gt;</a:t>
            </a:r>
          </a:p>
          <a:p>
            <a:pPr lvl="1" marL="759458" indent="-379728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Lägg till en fil till repot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cd test-project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…. Lägg till ny fil &lt;ny fil&gt;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add &lt;ny fil&gt;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commit -m "min första commit”</a:t>
            </a:r>
          </a:p>
          <a:p>
            <a:pPr lvl="2" marL="1139189" indent="-379729" defTabSz="493648">
              <a:lnSpc>
                <a:spcPct val="100000"/>
              </a:lnSpc>
              <a:spcBef>
                <a:spcPts val="2300"/>
              </a:spcBef>
              <a:buClr>
                <a:schemeClr val="accent1"/>
              </a:buClr>
              <a:buFont typeface="Avenir Next Regular"/>
              <a:buChar char="▸"/>
              <a:defRPr cap="none" spc="0" sz="2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push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01" name="Repositories vs Working Directory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solidFill>
                  <a:schemeClr val="accent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working directory</a:t>
            </a:r>
            <a:r>
              <a:rPr>
                <a:solidFill>
                  <a:srgbClr val="838787"/>
                </a:solidFill>
              </a:rPr>
              <a:t> vs </a:t>
            </a:r>
            <a:r>
              <a:rPr>
                <a:solidFill>
                  <a:schemeClr val="accent4"/>
                </a:solidFill>
              </a:rPr>
              <a:t>repository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ls projekt1 (</a:t>
            </a:r>
            <a:r>
              <a:rPr>
                <a:solidFill>
                  <a:schemeClr val="accent3"/>
                </a:solidFill>
              </a:rPr>
              <a:t>working directory</a:t>
            </a:r>
            <a:r>
              <a:t>)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Själva innehållet (koden)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ls projekt1/.git (</a:t>
            </a:r>
            <a:r>
              <a:rPr>
                <a:solidFill>
                  <a:schemeClr val="accent4"/>
                </a:solidFill>
              </a:rPr>
              <a:t>repository</a:t>
            </a:r>
            <a:r>
              <a:t>)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Mapp som git använder för att hålla koll på förändringar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Vi ska studera denna mapp närmare senare...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04" name="Repositories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>
            <a:lvl1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Så här lägger vi till de nya förändringarna (commits) till vårt lokala repository</a:t>
            </a:r>
          </a:p>
        </p:txBody>
      </p:sp>
      <p:pic>
        <p:nvPicPr>
          <p:cNvPr id="2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0332" y="4983803"/>
            <a:ext cx="11865114" cy="67963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08" name="Repositories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>
            <a:lvl1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Add och Commit</a:t>
            </a:r>
          </a:p>
        </p:txBody>
      </p:sp>
      <p:pic>
        <p:nvPicPr>
          <p:cNvPr id="209" name="download.jpeg" descr="download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1480" y="5249864"/>
            <a:ext cx="9945838" cy="66185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12" name="Repositories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>
            <a:lvl1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Så här lägger vi till de nya förändringarna (commits) till vårt lokala repository</a:t>
            </a:r>
          </a:p>
        </p:txBody>
      </p:sp>
      <p:pic>
        <p:nvPicPr>
          <p:cNvPr id="21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0231" y="5714577"/>
            <a:ext cx="12540344" cy="54046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16" name="Demo - Inget huvud repository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560830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Demo – Committs</a:t>
            </a:r>
          </a:p>
          <a:p>
            <a:pPr lvl="1" marL="1145032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in i projects</a:t>
            </a:r>
          </a:p>
          <a:p>
            <a:pPr lvl="1" marL="1145032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Gör flera committs och gå till olika tidpunkter I historien</a:t>
            </a:r>
          </a:p>
          <a:p>
            <a:pPr lvl="2" marL="1729232" indent="-58420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status (visa staging area)</a:t>
            </a:r>
          </a:p>
          <a:p>
            <a:pPr lvl="1" marL="1145032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till senaste commit</a:t>
            </a:r>
          </a:p>
          <a:p>
            <a:pPr lvl="2" marL="1729232" indent="-58420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HEAD</a:t>
            </a:r>
          </a:p>
          <a:p>
            <a:pPr lvl="1" marL="1145032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Kolla innehåll på GitHub</a:t>
            </a:r>
          </a:p>
          <a:p>
            <a:pPr lvl="1" marL="1145032" indent="-560830" defTabSz="729080">
              <a:lnSpc>
                <a:spcPct val="90000"/>
              </a:lnSpc>
              <a:spcBef>
                <a:spcPts val="3400"/>
              </a:spcBef>
              <a:buClr>
                <a:schemeClr val="accent1"/>
              </a:buClr>
              <a:buFont typeface="Avenir Next Regular"/>
              <a:buChar char="▸"/>
              <a:defRPr cap="none" spc="0" sz="4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Pusha committs till GitHub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19" name="Demo - Inget huvud repository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591312" indent="-591312" defTabSz="768703">
              <a:spcBef>
                <a:spcPts val="35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Uppgift – Committs</a:t>
            </a:r>
          </a:p>
          <a:p>
            <a:pPr lvl="1" marL="1207261" indent="-591312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in i test-project</a:t>
            </a:r>
          </a:p>
          <a:p>
            <a:pPr lvl="1" marL="1207261" indent="-591312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Gör flera committs </a:t>
            </a:r>
          </a:p>
          <a:p>
            <a:pPr lvl="2" marL="1823211" indent="-615950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Lägg till ny fil med en rad "Hej devops" (en commit)</a:t>
            </a:r>
            <a:endParaRPr sz="4400"/>
          </a:p>
          <a:p>
            <a:pPr lvl="2" marL="1823211" indent="-615950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Ändra raden till "Hej DevOps!" (en commit)</a:t>
            </a:r>
            <a:endParaRPr sz="4400"/>
          </a:p>
          <a:p>
            <a:pPr lvl="2" marL="1823211" indent="-615950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Lägg till en ny rad under "Jag lär mig committs." (en commit)</a:t>
            </a:r>
            <a:endParaRPr sz="4400"/>
          </a:p>
          <a:p>
            <a:pPr lvl="1" marL="1207261" indent="-591312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log (se alla commits med id)</a:t>
            </a:r>
            <a:endParaRPr sz="4400"/>
          </a:p>
          <a:p>
            <a:pPr lvl="1" marL="1207261" indent="-591312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till första committen </a:t>
            </a:r>
            <a:endParaRPr sz="4400"/>
          </a:p>
          <a:p>
            <a:pPr lvl="2" marL="1823211" indent="-615950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&lt;commit-id&gt;</a:t>
            </a:r>
            <a:endParaRPr sz="4400"/>
          </a:p>
          <a:p>
            <a:pPr lvl="1" marL="1207261" indent="-591312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till senaste tillagda commit</a:t>
            </a:r>
            <a:endParaRPr sz="4400"/>
          </a:p>
          <a:p>
            <a:pPr lvl="2" marL="1823211" indent="-615950" defTabSz="768703">
              <a:spcBef>
                <a:spcPts val="35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HEAD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22" name="Demo - Inget huvud repository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096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Hur kan vi göra detta?</a:t>
            </a:r>
          </a:p>
          <a:p>
            <a:pPr lvl="1" marL="12446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Varje commit kan ses som en snapshot i tiden </a:t>
            </a:r>
          </a:p>
          <a:p>
            <a:pPr lvl="1" marL="1244600" indent="-609600" defTabSz="792479">
              <a:lnSpc>
                <a:spcPct val="100000"/>
              </a:lnSpc>
              <a:spcBef>
                <a:spcPts val="3700"/>
              </a:spcBef>
              <a:buClr>
                <a:schemeClr val="accent1"/>
              </a:buClr>
              <a:buFont typeface="Avenir Next Regular"/>
              <a:buChar char="▸"/>
              <a:defRPr cap="none" spc="0" sz="46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Varje commit innehåller sina förändringar + tidigare commits</a:t>
            </a:r>
          </a:p>
        </p:txBody>
      </p:sp>
      <p:pic>
        <p:nvPicPr>
          <p:cNvPr id="22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8283" y="7720208"/>
            <a:ext cx="10760766" cy="49605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26" name="Repositories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Det är commits vi skickar mellan repositories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Vi skickar inte hela filerna (så lite så möjligt)</a:t>
            </a:r>
          </a:p>
        </p:txBody>
      </p:sp>
      <p:pic>
        <p:nvPicPr>
          <p:cNvPr id="227" name="maxresdefault.jpeg" descr="maxresdefault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9262" y="6462826"/>
            <a:ext cx="10057912" cy="56630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30" name="Nu skapade vi repository via GitHub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Nu skapade vi repository via GitHub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Men vi kan också skapa repositories lokalt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init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33" name="Demo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46355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Demo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nytt huvud repository (projekt) lokalt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Committa en fil till repot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till annat lokalt repo (projekt2)</a:t>
            </a:r>
          </a:p>
          <a:p>
            <a:pPr lvl="2" marL="139065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clone projekt projekt2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till annat lokalt repo (projekt3)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Förändra filen, adda, committa och pusha (projekt2)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Hämta förändringar (pull) (projekt3)</a:t>
            </a:r>
          </a:p>
          <a:p>
            <a:pPr lvl="1" marL="927100" indent="-463550" defTabSz="602615">
              <a:lnSpc>
                <a:spcPct val="100000"/>
              </a:lnSpc>
              <a:spcBef>
                <a:spcPts val="2800"/>
              </a:spcBef>
              <a:buClr>
                <a:schemeClr val="accent1"/>
              </a:buClr>
              <a:buFont typeface="Avenir Next Regular"/>
              <a:buChar char="▸"/>
              <a:defRPr cap="none" spc="0" sz="35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Upprepa (projekt3 -&gt; projekt2)</a:t>
            </a:r>
          </a:p>
        </p:txBody>
      </p:sp>
      <p:pic>
        <p:nvPicPr>
          <p:cNvPr id="234" name="images (1).png" descr="images 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11246" y="3924298"/>
            <a:ext cx="9088489" cy="53846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DataModell</a:t>
            </a:r>
          </a:p>
        </p:txBody>
      </p:sp>
      <p:sp>
        <p:nvSpPr>
          <p:cNvPr id="237" name="Uppgift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2667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Uppgift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nytt huvud repository (projekt) lokalt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mkdir project &amp;&amp; cd project 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init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Committa en fil till repot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add &lt;ny fil&gt;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commit -m ”första committen med ny fil"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till annat lokalt repo (projekt2)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cd ..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clone projekt projekt2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Clona till annat lokalt repo (projekt3)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clone projekt projekt3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Förändra filen, adda, committa och pusha (projekt2)</a:t>
            </a:r>
          </a:p>
          <a:p>
            <a:pPr lvl="1" marL="5334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Hämta förändringar (pull) (projekt3)</a:t>
            </a:r>
          </a:p>
          <a:p>
            <a:pPr lvl="2" marL="800098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20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pull</a:t>
            </a:r>
          </a:p>
        </p:txBody>
      </p:sp>
      <p:pic>
        <p:nvPicPr>
          <p:cNvPr id="238" name="images (1).png" descr="images 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11246" y="3924298"/>
            <a:ext cx="9088489" cy="53846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ataMod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GIT</a:t>
            </a:r>
          </a:p>
        </p:txBody>
      </p:sp>
      <p:sp>
        <p:nvSpPr>
          <p:cNvPr id="241" name="Uppgift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266700" indent="-2667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Quiz</a:t>
            </a:r>
            <a:endParaRPr sz="2000"/>
          </a:p>
          <a:p>
            <a:pPr lvl="1" marL="901700" indent="-6096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gör "git add"?</a:t>
            </a:r>
            <a:endParaRPr sz="2000"/>
          </a:p>
          <a:p>
            <a:pPr lvl="1" marL="901700" indent="-6096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är skillnaden mellan working directory och repository?</a:t>
            </a:r>
            <a:endParaRPr sz="2000"/>
          </a:p>
          <a:p>
            <a:pPr lvl="1" marL="901700" indent="-6096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gör "git commit …"?</a:t>
            </a:r>
            <a:endParaRPr sz="2000"/>
          </a:p>
          <a:p>
            <a:pPr lvl="1" marL="901700" indent="-6096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är en commit?</a:t>
            </a:r>
            <a:endParaRPr sz="2000"/>
          </a:p>
          <a:p>
            <a:pPr lvl="1" marL="901700" indent="-609600" defTabSz="34670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Avenir Next Regular"/>
              <a:buChar char="▸"/>
              <a:defRPr cap="none" spc="0" sz="32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Vad gör "git pull/push"?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Bran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Branches</a:t>
            </a:r>
          </a:p>
        </p:txBody>
      </p:sp>
      <p:sp>
        <p:nvSpPr>
          <p:cNvPr id="244" name="Dubbelklicka här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>
            <a:lvl1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Branches</a:t>
            </a:r>
          </a:p>
        </p:txBody>
      </p:sp>
      <p:pic>
        <p:nvPicPr>
          <p:cNvPr id="245" name="git-branches-merge.png" descr="git-branches-mer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150" y="5228012"/>
            <a:ext cx="12293601" cy="629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Bran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Branches</a:t>
            </a:r>
          </a:p>
        </p:txBody>
      </p:sp>
      <p:sp>
        <p:nvSpPr>
          <p:cNvPr id="248" name="Dubbelklicka här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Föreställ er: Ett stort team, och vi vill göra förändring utan att störa de andra</a:t>
            </a:r>
          </a:p>
          <a:p>
            <a:pPr lvl="1" marL="1270000" indent="-6096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Om vi committar hela tiden måste övriga hämta våra committs</a:t>
            </a:r>
          </a:p>
          <a:p>
            <a:pPr lvl="1" marL="1270000" indent="-6096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Git låter oss isolera våra förändringar i branches (grenar)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branch add_headers_to_files (skapar branch)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add_headers_to_files (går över till branch, så vi kan arbeta)</a:t>
            </a:r>
          </a:p>
          <a:p>
            <a:pPr lvl="2" marL="190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merge add_headers_to_files (infogar förändringar i branchen)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Bran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Branches</a:t>
            </a:r>
          </a:p>
        </p:txBody>
      </p:sp>
      <p:sp>
        <p:nvSpPr>
          <p:cNvPr id="251" name="Dubbelklicka här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Demo – Branches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en branch och lägg till förändringar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över till master (visa att förändringar är borta)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Merga in den nya branchen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Bran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Branches</a:t>
            </a:r>
          </a:p>
        </p:txBody>
      </p:sp>
      <p:sp>
        <p:nvSpPr>
          <p:cNvPr id="254" name="Dubbelklicka här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596900" indent="-596900" defTabSz="775969">
              <a:spcBef>
                <a:spcPts val="36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Uppgift – Branches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in i projekt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Skapa en ny branch</a:t>
            </a:r>
          </a:p>
          <a:p>
            <a:pPr lvl="2" marL="17907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branch &lt;branch namn&gt;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in I branchen</a:t>
            </a:r>
          </a:p>
          <a:p>
            <a:pPr lvl="2" marL="17907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&lt;branch namn&gt;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Lägg till en ny fil och committa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Gå tillbaka till huvudbranchen (master)</a:t>
            </a:r>
          </a:p>
          <a:p>
            <a:pPr lvl="2" marL="17907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checkout master</a:t>
            </a:r>
          </a:p>
          <a:p>
            <a:pPr lvl="1" marL="11938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Dra in förändringarna I den nya branchen till master</a:t>
            </a:r>
          </a:p>
          <a:p>
            <a:pPr lvl="2" marL="1790700" indent="-596900" defTabSz="775969">
              <a:spcBef>
                <a:spcPts val="3600"/>
              </a:spcBef>
              <a:buClr>
                <a:schemeClr val="accent1"/>
              </a:buClr>
              <a:buFont typeface="Avenir Next Regular"/>
              <a:buChar char="▸"/>
              <a:defRPr cap="none" spc="0" sz="24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$ git merge &lt;branch namn&gt;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222222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2222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2222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