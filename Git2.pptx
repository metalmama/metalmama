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1pPr>
    <a:lvl2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2pPr>
    <a:lvl3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3pPr>
    <a:lvl4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4pPr>
    <a:lvl5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5pPr>
    <a:lvl6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6pPr>
    <a:lvl7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7pPr>
    <a:lvl8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8pPr>
    <a:lvl9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222222"/>
        </a:solidFill>
        <a:effectLst/>
        <a:uFillTx/>
        <a:latin typeface="DIN Condensed Bold"/>
        <a:ea typeface="DIN Condensed Bold"/>
        <a:cs typeface="DIN Condensed Bold"/>
        <a:sym typeface="DIN Condensed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DIN Condensed Bold"/>
          <a:ea typeface="DIN Condensed Bold"/>
          <a:cs typeface="DIN Condensed Bold"/>
        </a:font>
        <a:srgbClr val="222222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CCE0F1"/>
          </a:solidFill>
        </a:fill>
      </a:tcStyle>
    </a:wholeTbl>
    <a:band2H>
      <a:tcTxStyle b="def" i="def"/>
      <a:tcStyle>
        <a:tcBdr/>
        <a:fill>
          <a:solidFill>
            <a:srgbClr val="E7F0F8"/>
          </a:solidFill>
        </a:fill>
      </a:tcStyle>
    </a:band2H>
    <a:firstCol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381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381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DIN Condensed Bold"/>
          <a:ea typeface="DIN Condensed Bold"/>
          <a:cs typeface="DIN Condensed Bold"/>
        </a:font>
        <a:srgbClr val="222222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D9E8D1"/>
          </a:solidFill>
        </a:fill>
      </a:tcStyle>
    </a:wholeTbl>
    <a:band2H>
      <a:tcTxStyle b="def" i="def"/>
      <a:tcStyle>
        <a:tcBdr/>
        <a:fill>
          <a:solidFill>
            <a:srgbClr val="EDF4E9"/>
          </a:solidFill>
        </a:fill>
      </a:tcStyle>
    </a:band2H>
    <a:firstCol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381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381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DIN Condensed Bold"/>
          <a:ea typeface="DIN Condensed Bold"/>
          <a:cs typeface="DIN Condensed Bold"/>
        </a:font>
        <a:srgbClr val="222222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EACBD1"/>
          </a:solidFill>
        </a:fill>
      </a:tcStyle>
    </a:wholeTbl>
    <a:band2H>
      <a:tcTxStyle b="def" i="def"/>
      <a:tcStyle>
        <a:tcBdr/>
        <a:fill>
          <a:solidFill>
            <a:srgbClr val="F5E7E9"/>
          </a:solidFill>
        </a:fill>
      </a:tcStyle>
    </a:band2H>
    <a:firstCol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381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381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DIN Condensed Bold"/>
          <a:ea typeface="DIN Condensed Bold"/>
          <a:cs typeface="DIN Condensed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838787"/>
          </a:solidFill>
        </a:fill>
      </a:tcStyle>
    </a:band2H>
    <a:firstCol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DIN Condensed Bold"/>
          <a:ea typeface="DIN Condensed Bold"/>
          <a:cs typeface="DIN Condensed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22222"/>
              </a:solidFill>
              <a:prstDash val="solid"/>
              <a:round/>
            </a:ln>
          </a:top>
          <a:bottom>
            <a:ln w="254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round/>
            </a:ln>
          </a:top>
          <a:bottom>
            <a:ln w="25400" cap="flat">
              <a:solidFill>
                <a:srgbClr val="2222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DIN Condensed Bold"/>
          <a:ea typeface="DIN Condensed Bold"/>
          <a:cs typeface="DIN Condensed Bold"/>
        </a:font>
        <a:srgbClr val="222222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222222"/>
          </a:solidFill>
        </a:fill>
      </a:tcStyle>
    </a:firstCol>
    <a:la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381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222222"/>
          </a:solidFill>
        </a:fill>
      </a:tcStyle>
    </a:lastRow>
    <a:fir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381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222222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838787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solidFill>
            <a:srgbClr val="838787">
              <a:alpha val="20000"/>
            </a:srgbClr>
          </a:solidFill>
        </a:fill>
      </a:tcStyle>
    </a:firstCol>
    <a:la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50800" cap="flat">
              <a:solidFill>
                <a:srgbClr val="838787"/>
              </a:solidFill>
              <a:prstDash val="solid"/>
              <a:round/>
            </a:ln>
          </a:top>
          <a:bottom>
            <a:ln w="127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DIN Condensed Bold"/>
          <a:ea typeface="DIN Condensed Bold"/>
          <a:cs typeface="DIN Condensed Bold"/>
        </a:font>
        <a:srgbClr val="838787"/>
      </a:tcTxStyle>
      <a:tcStyle>
        <a:tcBdr>
          <a:left>
            <a:ln w="12700" cap="flat">
              <a:solidFill>
                <a:srgbClr val="838787"/>
              </a:solidFill>
              <a:prstDash val="solid"/>
              <a:round/>
            </a:ln>
          </a:left>
          <a:right>
            <a:ln w="12700" cap="flat">
              <a:solidFill>
                <a:srgbClr val="838787"/>
              </a:solidFill>
              <a:prstDash val="solid"/>
              <a:round/>
            </a:ln>
          </a:right>
          <a:top>
            <a:ln w="12700" cap="flat">
              <a:solidFill>
                <a:srgbClr val="838787"/>
              </a:solidFill>
              <a:prstDash val="solid"/>
              <a:round/>
            </a:ln>
          </a:top>
          <a:bottom>
            <a:ln w="25400" cap="flat">
              <a:solidFill>
                <a:srgbClr val="838787"/>
              </a:solidFill>
              <a:prstDash val="solid"/>
              <a:round/>
            </a:ln>
          </a:bottom>
          <a:insideH>
            <a:ln w="12700" cap="flat">
              <a:solidFill>
                <a:srgbClr val="838787"/>
              </a:solidFill>
              <a:prstDash val="solid"/>
              <a:round/>
            </a:ln>
          </a:insideH>
          <a:insideV>
            <a:ln w="12700" cap="flat">
              <a:solidFill>
                <a:srgbClr val="838787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el och undertite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je"/>
          <p:cNvSpPr/>
          <p:nvPr/>
        </p:nvSpPr>
        <p:spPr>
          <a:xfrm flipV="1">
            <a:off x="761999" y="8635631"/>
            <a:ext cx="22860000" cy="370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14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defRPr b="0" cap="all" sz="303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23063201" y="609600"/>
            <a:ext cx="553195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Horisontellt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" name="Linje"/>
          <p:cNvSpPr/>
          <p:nvPr/>
        </p:nvSpPr>
        <p:spPr>
          <a:xfrm flipV="1">
            <a:off x="761999" y="8635631"/>
            <a:ext cx="22860000" cy="370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25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defRPr b="0" cap="all" sz="303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lide Number"/>
          <p:cNvSpPr txBox="1"/>
          <p:nvPr>
            <p:ph type="sldNum" sz="quarter" idx="2"/>
          </p:nvPr>
        </p:nvSpPr>
        <p:spPr>
          <a:xfrm>
            <a:off x="23063201" y="609600"/>
            <a:ext cx="553195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och undertex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Linje"/>
          <p:cNvSpPr/>
          <p:nvPr/>
        </p:nvSpPr>
        <p:spPr>
          <a:xfrm flipV="1">
            <a:off x="761999" y="8635631"/>
            <a:ext cx="22860000" cy="370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35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defRPr b="0" cap="all" sz="303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xfrm>
            <a:off x="23013223" y="584200"/>
            <a:ext cx="553195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– Centrerad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/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defRPr b="0" cap="all" sz="303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xfrm>
            <a:off x="23063201" y="609600"/>
            <a:ext cx="553195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Vertikalt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je"/>
          <p:cNvSpPr/>
          <p:nvPr/>
        </p:nvSpPr>
        <p:spPr>
          <a:xfrm flipV="1">
            <a:off x="11049000" y="8635797"/>
            <a:ext cx="12572997" cy="204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53" name="Bild"/>
          <p:cNvSpPr/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4" name="Title Text"/>
          <p:cNvSpPr txBox="1"/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defRPr b="0" cap="all" sz="303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xfrm>
            <a:off x="23063201" y="609600"/>
            <a:ext cx="553195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– Uppt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Linje"/>
          <p:cNvSpPr/>
          <p:nvPr/>
        </p:nvSpPr>
        <p:spPr>
          <a:xfrm flipV="1">
            <a:off x="761999" y="1396631"/>
            <a:ext cx="22860000" cy="370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64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/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111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174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238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301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spcBef>
                <a:spcPts val="3900"/>
              </a:spcBef>
              <a:defRPr b="0" cap="all" sz="87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och punkter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Linje"/>
          <p:cNvSpPr/>
          <p:nvPr/>
        </p:nvSpPr>
        <p:spPr>
          <a:xfrm flipV="1">
            <a:off x="761999" y="1396631"/>
            <a:ext cx="22860000" cy="370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/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111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174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238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301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spcBef>
                <a:spcPts val="3900"/>
              </a:spcBef>
              <a:defRPr b="0" cap="all" sz="87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6" name="Brödtext nivå ett…"/>
          <p:cNvSpPr txBox="1"/>
          <p:nvPr>
            <p:ph type="body" idx="2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accent1"/>
              </a:buClr>
              <a:buChar char="▸"/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och punktform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Linje"/>
          <p:cNvSpPr/>
          <p:nvPr/>
        </p:nvSpPr>
        <p:spPr>
          <a:xfrm flipV="1">
            <a:off x="761999" y="1396631"/>
            <a:ext cx="22860000" cy="370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/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111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174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238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301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spcBef>
                <a:spcPts val="3900"/>
              </a:spcBef>
              <a:defRPr b="0" cap="all" sz="87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7" name="Brödtext nivå ett…"/>
          <p:cNvSpPr txBox="1"/>
          <p:nvPr>
            <p:ph type="body" idx="2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accent1"/>
              </a:buClr>
              <a:buChar char="▸"/>
            </a:pP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, punkter och bild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inje"/>
          <p:cNvSpPr/>
          <p:nvPr/>
        </p:nvSpPr>
        <p:spPr>
          <a:xfrm flipV="1">
            <a:off x="761999" y="1396631"/>
            <a:ext cx="22860000" cy="370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/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111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174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238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301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Bild"/>
          <p:cNvSpPr/>
          <p:nvPr>
            <p:ph type="pic" idx="21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8" name="Title Text"/>
          <p:cNvSpPr txBox="1"/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80000"/>
              </a:lnSpc>
              <a:spcBef>
                <a:spcPts val="3900"/>
              </a:spcBef>
              <a:defRPr b="0" cap="all" sz="87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9" name="Brödtext nivå ett…"/>
          <p:cNvSpPr txBox="1"/>
          <p:nvPr>
            <p:ph type="body" sz="half" idx="22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accent1"/>
              </a:buClr>
              <a:buChar char="▸"/>
              <a:defRPr sz="4000"/>
            </a:pP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unkter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Linje"/>
          <p:cNvSpPr/>
          <p:nvPr/>
        </p:nvSpPr>
        <p:spPr>
          <a:xfrm flipV="1">
            <a:off x="761999" y="1396631"/>
            <a:ext cx="22860000" cy="370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108" name="Body Level One…"/>
          <p:cNvSpPr txBox="1"/>
          <p:nvPr>
            <p:ph type="body" sz="quarter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/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111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174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2381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3016250" indent="-476250" defTabSz="647700">
              <a:lnSpc>
                <a:spcPct val="80000"/>
              </a:lnSpc>
              <a:spcBef>
                <a:spcPts val="0"/>
              </a:spcBef>
              <a:buClrTx/>
              <a:buFontTx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Brödtext nivå ett…"/>
          <p:cNvSpPr txBox="1"/>
          <p:nvPr>
            <p:ph type="body" idx="2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accent1"/>
              </a:buClr>
              <a:buSzPct val="125000"/>
              <a:buChar char="▸"/>
            </a:pPr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3 per sida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Bild"/>
          <p:cNvSpPr/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8" name="Bild"/>
          <p:cNvSpPr/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9" name="Bild"/>
          <p:cNvSpPr/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itat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Linje"/>
          <p:cNvSpPr/>
          <p:nvPr/>
        </p:nvSpPr>
        <p:spPr>
          <a:xfrm flipV="1">
            <a:off x="761999" y="1396631"/>
            <a:ext cx="22860000" cy="370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128" name="Fyrkantig pratbubbla"/>
          <p:cNvSpPr/>
          <p:nvPr/>
        </p:nvSpPr>
        <p:spPr>
          <a:xfrm>
            <a:off x="876300" y="3314700"/>
            <a:ext cx="22631400" cy="73171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FFFFFF"/>
                </a:solidFill>
              </a:defRPr>
            </a:pPr>
          </a:p>
        </p:txBody>
      </p:sp>
      <p:sp>
        <p:nvSpPr>
          <p:cNvPr id="129" name="Body Level One…"/>
          <p:cNvSpPr txBox="1"/>
          <p:nvPr>
            <p:ph type="body" sz="quarter" idx="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  <a:lvl2pPr marL="2407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2pPr>
            <a:lvl3pPr marL="3042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3pPr>
            <a:lvl4pPr marL="3677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4pPr>
            <a:lvl5pPr marL="4312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Johnny Appleseed"/>
          <p:cNvSpPr txBox="1"/>
          <p:nvPr>
            <p:ph type="body" sz="quarter" idx="21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DIN Condensed Bold"/>
                <a:ea typeface="DIN Condensed Bold"/>
                <a:cs typeface="DIN Condensed Bold"/>
                <a:sym typeface="DIN Condensed Bold"/>
              </a:defRPr>
            </a:pPr>
          </a:p>
        </p:txBody>
      </p:sp>
      <p:sp>
        <p:nvSpPr>
          <p:cNvPr id="131" name="Text"/>
          <p:cNvSpPr txBox="1"/>
          <p:nvPr>
            <p:ph type="body" sz="quarter" idx="22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/>
          <a:lstStyle/>
          <a:p>
            <a: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00" sz="3600">
                <a:latin typeface="DIN Alternate Bold"/>
                <a:ea typeface="DIN Alternate Bold"/>
                <a:cs typeface="DIN Alternate Bold"/>
                <a:sym typeface="DIN Alternate Bold"/>
              </a:defRPr>
            </a:pPr>
          </a:p>
        </p:txBody>
      </p:sp>
      <p:sp>
        <p:nvSpPr>
          <p:cNvPr id="132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itat, alt.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Body Level One…"/>
          <p:cNvSpPr txBox="1"/>
          <p:nvPr>
            <p:ph type="body" sz="quarter" idx="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  <a:lvl2pPr marL="2407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2pPr>
            <a:lvl3pPr marL="3042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3pPr>
            <a:lvl4pPr marL="3677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4pPr>
            <a:lvl5pPr marL="4312708" indent="-1772708">
              <a:lnSpc>
                <a:spcPct val="80000"/>
              </a:lnSpc>
              <a:spcBef>
                <a:spcPts val="0"/>
              </a:spcBef>
              <a:buClrTx/>
              <a:buFontTx/>
              <a:defRPr cap="all" sz="13400">
                <a:solidFill>
                  <a:srgbClr val="FFFFFF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Bild"/>
          <p:cNvSpPr/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1" name="Johnny Appleseed"/>
          <p:cNvSpPr txBox="1"/>
          <p:nvPr>
            <p:ph type="body" sz="quarter" idx="22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/>
          <a:lstStyle/>
          <a:p>
            <a: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DIN Condensed Bold"/>
                <a:ea typeface="DIN Condensed Bold"/>
                <a:cs typeface="DIN Condensed Bold"/>
                <a:sym typeface="DIN Condensed Bold"/>
              </a:defRPr>
            </a:pPr>
          </a:p>
        </p:txBody>
      </p:sp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ld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Bild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0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om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om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Text"/>
          <p:cNvSpPr txBox="1"/>
          <p:nvPr>
            <p:ph type="title"/>
          </p:nvPr>
        </p:nvSpPr>
        <p:spPr>
          <a:xfrm>
            <a:off x="797394" y="1921873"/>
            <a:ext cx="22789209" cy="915636"/>
          </a:xfrm>
          <a:prstGeom prst="rect">
            <a:avLst/>
          </a:prstGeom>
        </p:spPr>
        <p:txBody>
          <a:bodyPr/>
          <a:lstStyle>
            <a:lvl1pPr>
              <a:defRPr b="0" sz="59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2" name="Body Level One…"/>
          <p:cNvSpPr txBox="1"/>
          <p:nvPr>
            <p:ph type="body" sz="quarter" idx="1"/>
          </p:nvPr>
        </p:nvSpPr>
        <p:spPr>
          <a:xfrm>
            <a:off x="3657600" y="7680960"/>
            <a:ext cx="17068800" cy="277000"/>
          </a:xfrm>
          <a:prstGeom prst="rect">
            <a:avLst/>
          </a:prstGeom>
        </p:spPr>
        <p:txBody>
          <a:bodyPr lIns="0" tIns="0" rIns="0" bIns="0"/>
          <a:lstStyle>
            <a:lvl1pPr marL="0" indent="0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554491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1108983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663475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2217969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81" name="Body Level One…"/>
          <p:cNvSpPr txBox="1"/>
          <p:nvPr>
            <p:ph type="body" sz="quarter" idx="1"/>
          </p:nvPr>
        </p:nvSpPr>
        <p:spPr>
          <a:xfrm>
            <a:off x="797394" y="3875394"/>
            <a:ext cx="22789209" cy="277000"/>
          </a:xfrm>
          <a:prstGeom prst="rect">
            <a:avLst/>
          </a:prstGeom>
        </p:spPr>
        <p:txBody>
          <a:bodyPr lIns="0" tIns="0" rIns="0" bIns="0"/>
          <a:lstStyle>
            <a:lvl1pPr marL="0" indent="0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554491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1108983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663475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2217969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0" name="Body Level One…"/>
          <p:cNvSpPr txBox="1"/>
          <p:nvPr>
            <p:ph type="body" sz="quarter" idx="1"/>
          </p:nvPr>
        </p:nvSpPr>
        <p:spPr>
          <a:xfrm>
            <a:off x="1219200" y="3154679"/>
            <a:ext cx="10607041" cy="277000"/>
          </a:xfrm>
          <a:prstGeom prst="rect">
            <a:avLst/>
          </a:prstGeom>
        </p:spPr>
        <p:txBody>
          <a:bodyPr lIns="0" tIns="0" rIns="0" bIns="0"/>
          <a:lstStyle>
            <a:lvl1pPr marL="0" indent="0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554491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1108983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663475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2217969" defTabSz="914400"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bg object 16"/>
          <p:cNvSpPr/>
          <p:nvPr/>
        </p:nvSpPr>
        <p:spPr>
          <a:xfrm>
            <a:off x="0" y="1"/>
            <a:ext cx="24383999" cy="1371503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/>
          <a:lstStyle/>
          <a:p>
            <a:pPr>
              <a:defRPr>
                <a:solidFill>
                  <a:srgbClr val="83878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2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1"/>
            <a:ext cx="24383999" cy="1371503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/>
          <a:lstStyle/>
          <a:p>
            <a:pPr>
              <a:defRPr>
                <a:solidFill>
                  <a:srgbClr val="83878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3" name="bg object 17"/>
          <p:cNvSpPr/>
          <p:nvPr/>
        </p:nvSpPr>
        <p:spPr>
          <a:xfrm flipV="1">
            <a:off x="761999" y="1396535"/>
            <a:ext cx="22860001" cy="369"/>
          </a:xfrm>
          <a:prstGeom prst="line">
            <a:avLst/>
          </a:prstGeom>
          <a:ln w="20941">
            <a:solidFill>
              <a:srgbClr val="A6AAA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838787"/>
                </a:solidFill>
              </a:defRPr>
            </a:pP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797394" y="1921873"/>
            <a:ext cx="22789209" cy="110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22698711" y="12755881"/>
            <a:ext cx="466091" cy="5207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200" u="none">
          <a:solidFill>
            <a:schemeClr val="accent1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rgbClr val="39A3D5"/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1pPr>
      <a:lvl2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2pPr>
      <a:lvl3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3pPr>
      <a:lvl4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4pPr>
      <a:lvl5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5pPr>
      <a:lvl6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6pPr>
      <a:lvl7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7pPr>
      <a:lvl8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8pPr>
      <a:lvl9pPr marL="0" marR="0" indent="0" algn="r" defTabSz="825500" rtl="0" latinLnBrk="0">
        <a:lnSpc>
          <a:spcPct val="100000"/>
        </a:lnSpc>
        <a:spcBef>
          <a:spcPts val="3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s://en.wikipedia.org/wiki/Hash_table" TargetMode="External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It I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defTabSz="792479">
              <a:defRPr sz="29000"/>
            </a:pPr>
            <a:r>
              <a:t>GIt </a:t>
            </a:r>
            <a:r>
              <a:t>II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00"/>
            </a:lvl1pPr>
          </a:lstStyle>
          <a:p>
            <a:pPr/>
            <a:r>
              <a:t>Agenda</a:t>
            </a:r>
          </a:p>
        </p:txBody>
      </p:sp>
      <p:sp>
        <p:nvSpPr>
          <p:cNvPr id="219" name="Dubbelklicka här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</p:spPr>
        <p:txBody>
          <a:bodyPr anchor="t"/>
          <a:lstStyle/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Porcelain vs Plumbing commands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Datamodell</a:t>
            </a:r>
          </a:p>
          <a:p>
            <a:pPr lvl="1" marL="1270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Hashmap</a:t>
            </a:r>
          </a:p>
          <a:p>
            <a:pPr marL="635000" indent="-635000" defTabSz="825500">
              <a:lnSpc>
                <a:spcPct val="100000"/>
              </a:lnSpc>
              <a:spcBef>
                <a:spcPts val="39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cap="none" spc="0" sz="4800"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Git-objekt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object 2"/>
          <p:cNvSpPr txBox="1"/>
          <p:nvPr>
            <p:ph type="title"/>
          </p:nvPr>
        </p:nvSpPr>
        <p:spPr>
          <a:xfrm>
            <a:off x="798195" y="1921873"/>
            <a:ext cx="15345449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PORCELAIN VS PLUMBING COMMANDS</a:t>
            </a:r>
          </a:p>
        </p:txBody>
      </p:sp>
      <p:sp>
        <p:nvSpPr>
          <p:cNvPr id="222" name="object 3"/>
          <p:cNvSpPr txBox="1"/>
          <p:nvPr/>
        </p:nvSpPr>
        <p:spPr>
          <a:xfrm>
            <a:off x="798195" y="3892608"/>
            <a:ext cx="10165978" cy="9174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10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82"/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När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du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tänker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Git,</a:t>
            </a:r>
            <a:r>
              <a:rPr baseline="0" spc="-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förmodligen: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1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94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pull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45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45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5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rebase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370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18"/>
              <a:t> </a:t>
            </a:r>
            <a:r>
              <a:rPr baseline="0" spc="-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osv….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object 3"/>
          <p:cNvSpPr txBox="1"/>
          <p:nvPr/>
        </p:nvSpPr>
        <p:spPr>
          <a:xfrm>
            <a:off x="798195" y="3892608"/>
            <a:ext cx="11093630" cy="8704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82"/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När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du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tänker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Git,</a:t>
            </a:r>
            <a:r>
              <a:rPr baseline="0" spc="-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förmodligen: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1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45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45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5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pull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94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rebase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18"/>
              <a:t> </a:t>
            </a:r>
            <a:r>
              <a:rPr baseline="0" spc="-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osv….</a:t>
            </a:r>
          </a:p>
        </p:txBody>
      </p:sp>
      <p:sp>
        <p:nvSpPr>
          <p:cNvPr id="225" name="object 4"/>
          <p:cNvSpPr txBox="1"/>
          <p:nvPr/>
        </p:nvSpPr>
        <p:spPr>
          <a:xfrm>
            <a:off x="8724157" y="4302852"/>
            <a:ext cx="2254939" cy="7884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5402">
              <a:spcBef>
                <a:spcPts val="100"/>
              </a:spcBef>
              <a:defRPr spc="-1061" sz="556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226" name="object 5"/>
          <p:cNvSpPr txBox="1"/>
          <p:nvPr/>
        </p:nvSpPr>
        <p:spPr>
          <a:xfrm>
            <a:off x="11625698" y="8131826"/>
            <a:ext cx="3984648" cy="85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spc="42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”Porcelain</a:t>
            </a:r>
            <a:r>
              <a:rPr spc="-127"/>
              <a:t> </a:t>
            </a:r>
            <a:r>
              <a:rPr spc="109"/>
              <a:t>commands”</a:t>
            </a:r>
          </a:p>
        </p:txBody>
      </p:sp>
      <p:sp>
        <p:nvSpPr>
          <p:cNvPr id="227" name="object 2"/>
          <p:cNvSpPr txBox="1"/>
          <p:nvPr/>
        </p:nvSpPr>
        <p:spPr>
          <a:xfrm>
            <a:off x="798195" y="1921873"/>
            <a:ext cx="15345449" cy="11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indent="15402" defTabSz="914400">
              <a:spcBef>
                <a:spcPts val="100"/>
              </a:spcBef>
              <a:defRPr b="1" sz="7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PORCELAIN VS PLUMBING COMMANDS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object 3"/>
          <p:cNvSpPr txBox="1"/>
          <p:nvPr/>
        </p:nvSpPr>
        <p:spPr>
          <a:xfrm>
            <a:off x="798196" y="3887104"/>
            <a:ext cx="17466438" cy="1256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108"/>
              <a:t> </a:t>
            </a:r>
            <a:r>
              <a:rPr baseline="0" spc="-3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bakgrunden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använder</a:t>
            </a:r>
            <a:r>
              <a:rPr baseline="0" spc="-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3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dessa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UI-kommandon:</a:t>
            </a:r>
          </a:p>
        </p:txBody>
      </p:sp>
      <p:sp>
        <p:nvSpPr>
          <p:cNvPr id="230" name="object 4"/>
          <p:cNvSpPr txBox="1"/>
          <p:nvPr/>
        </p:nvSpPr>
        <p:spPr>
          <a:xfrm>
            <a:off x="1433150" y="5220511"/>
            <a:ext cx="8140990" cy="6437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27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5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45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hash-object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64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1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count-objects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37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update-refs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09"/>
              <a:t> </a:t>
            </a:r>
            <a:r>
              <a:rPr baseline="0" spc="-5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osv…</a:t>
            </a:r>
          </a:p>
        </p:txBody>
      </p:sp>
      <p:sp>
        <p:nvSpPr>
          <p:cNvPr id="231" name="object 2"/>
          <p:cNvSpPr txBox="1"/>
          <p:nvPr>
            <p:ph type="title"/>
          </p:nvPr>
        </p:nvSpPr>
        <p:spPr>
          <a:xfrm>
            <a:off x="798195" y="1921873"/>
            <a:ext cx="15345449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PORCELAIN VS PLUMBING COMMANDS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object 3"/>
          <p:cNvSpPr txBox="1"/>
          <p:nvPr/>
        </p:nvSpPr>
        <p:spPr>
          <a:xfrm>
            <a:off x="798196" y="3887104"/>
            <a:ext cx="17466438" cy="1256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108"/>
              <a:t> </a:t>
            </a:r>
            <a:r>
              <a:rPr baseline="0" spc="-3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bakgrunden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använder</a:t>
            </a:r>
            <a:r>
              <a:rPr baseline="0" spc="-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3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dessa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UI-kommandon:</a:t>
            </a:r>
          </a:p>
        </p:txBody>
      </p:sp>
      <p:sp>
        <p:nvSpPr>
          <p:cNvPr id="234" name="object 4"/>
          <p:cNvSpPr txBox="1"/>
          <p:nvPr/>
        </p:nvSpPr>
        <p:spPr>
          <a:xfrm>
            <a:off x="1433150" y="5220511"/>
            <a:ext cx="8140990" cy="6437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27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5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45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hash-object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64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1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count-objects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37"/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update-refs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09"/>
              <a:t> </a:t>
            </a:r>
            <a:r>
              <a:rPr baseline="0" spc="-5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osv…</a:t>
            </a:r>
          </a:p>
        </p:txBody>
      </p:sp>
      <p:sp>
        <p:nvSpPr>
          <p:cNvPr id="235" name="object 5"/>
          <p:cNvSpPr txBox="1"/>
          <p:nvPr/>
        </p:nvSpPr>
        <p:spPr>
          <a:xfrm>
            <a:off x="8794360" y="4193535"/>
            <a:ext cx="2254939" cy="7884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5402">
              <a:spcBef>
                <a:spcPts val="100"/>
              </a:spcBef>
              <a:defRPr spc="-1061" sz="556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236" name="object 6"/>
          <p:cNvSpPr txBox="1"/>
          <p:nvPr/>
        </p:nvSpPr>
        <p:spPr>
          <a:xfrm>
            <a:off x="11578900" y="8143429"/>
            <a:ext cx="4075524" cy="85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spc="127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”Plumbing</a:t>
            </a:r>
            <a:r>
              <a:rPr spc="-127"/>
              <a:t> </a:t>
            </a:r>
            <a:r>
              <a:rPr spc="109"/>
              <a:t>commands”</a:t>
            </a:r>
          </a:p>
        </p:txBody>
      </p:sp>
      <p:sp>
        <p:nvSpPr>
          <p:cNvPr id="237" name="object 2"/>
          <p:cNvSpPr txBox="1"/>
          <p:nvPr>
            <p:ph type="title"/>
          </p:nvPr>
        </p:nvSpPr>
        <p:spPr>
          <a:xfrm>
            <a:off x="798195" y="1921873"/>
            <a:ext cx="15345449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PORCELAIN VS PLUMBING COMMANDS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object 2"/>
          <p:cNvSpPr txBox="1"/>
          <p:nvPr>
            <p:ph type="title"/>
          </p:nvPr>
        </p:nvSpPr>
        <p:spPr>
          <a:xfrm>
            <a:off x="798195" y="1921872"/>
            <a:ext cx="6680614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DATAMODELL</a:t>
            </a:r>
          </a:p>
        </p:txBody>
      </p:sp>
      <p:sp>
        <p:nvSpPr>
          <p:cNvPr id="240" name="object 3"/>
          <p:cNvSpPr txBox="1"/>
          <p:nvPr/>
        </p:nvSpPr>
        <p:spPr>
          <a:xfrm>
            <a:off x="798195" y="3887106"/>
            <a:ext cx="14367773" cy="496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73"/>
              <a:t> </a:t>
            </a:r>
            <a:r>
              <a:rPr baseline="0" spc="30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Om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5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du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vill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lära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dig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987">
              <a:spcBef>
                <a:spcPts val="44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82"/>
              <a:t> </a:t>
            </a:r>
            <a:r>
              <a:rPr baseline="0" spc="-4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Lär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dig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inte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kommandon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6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aseline="0" i="1" spc="16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googla</a:t>
            </a:r>
            <a:r>
              <a:rPr baseline="0" i="1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i="1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dem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987">
              <a:spcBef>
                <a:spcPts val="44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82"/>
              <a:t> </a:t>
            </a:r>
            <a:r>
              <a:rPr baseline="0" spc="-4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Lär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dig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0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modellen!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object 2"/>
          <p:cNvSpPr txBox="1"/>
          <p:nvPr>
            <p:ph type="title"/>
          </p:nvPr>
        </p:nvSpPr>
        <p:spPr>
          <a:xfrm>
            <a:off x="798194" y="1921872"/>
            <a:ext cx="13281750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DATAMODELL - HASHMAP</a:t>
            </a:r>
          </a:p>
        </p:txBody>
      </p:sp>
      <p:sp>
        <p:nvSpPr>
          <p:cNvPr id="243" name="object 3"/>
          <p:cNvSpPr txBox="1"/>
          <p:nvPr/>
        </p:nvSpPr>
        <p:spPr>
          <a:xfrm>
            <a:off x="798196" y="3887106"/>
            <a:ext cx="15142231" cy="4338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t> 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8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essens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är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hashmap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lvl="1"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 </a:t>
            </a:r>
            <a:r>
              <a:rPr baseline="0" spc="-2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3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(hash)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aseline="0" spc="-22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(bytes/innehåll)</a:t>
            </a:r>
            <a:endParaRPr>
              <a:solidFill>
                <a:srgbClr val="838787"/>
              </a:solidFill>
              <a:latin typeface="Avenir Next Medium"/>
              <a:ea typeface="Avenir Next Medium"/>
              <a:cs typeface="Avenir Next Medium"/>
              <a:sym typeface="Avenir Next Medium"/>
            </a:endParaRPr>
          </a:p>
          <a:p>
            <a:pPr lvl="3" indent="15240">
              <a:spcBef>
                <a:spcPts val="0"/>
              </a:spcBef>
              <a:defRPr spc="109" sz="48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 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venir Next Medium"/>
                <a:ea typeface="Avenir Next Medium"/>
                <a:cs typeface="Avenir Next Medium"/>
                <a:sym typeface="Avenir Next Medium"/>
                <a:hlinkClick r:id="rId2" invalidUrl="" action="" tgtFrame="" tooltip="" history="1" highlightClick="0" endSnd="0"/>
              </a:rPr>
              <a:t>Hash table - Wikipedia</a:t>
            </a:r>
            <a:endParaRPr>
              <a:solidFill>
                <a:srgbClr val="838787"/>
              </a:solidFill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244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29318" y="7284476"/>
            <a:ext cx="7020233" cy="58185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bject 3"/>
          <p:cNvSpPr txBox="1"/>
          <p:nvPr/>
        </p:nvSpPr>
        <p:spPr>
          <a:xfrm>
            <a:off x="798196" y="3887106"/>
            <a:ext cx="15142231" cy="1973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t> 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Låt oss implementera en hashmap I python :-)</a:t>
            </a:r>
            <a:endParaRPr baseline="-2900" spc="-133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0536" y="5627954"/>
            <a:ext cx="7020232" cy="5818579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object 2"/>
          <p:cNvSpPr txBox="1"/>
          <p:nvPr>
            <p:ph type="title"/>
          </p:nvPr>
        </p:nvSpPr>
        <p:spPr>
          <a:xfrm>
            <a:off x="798194" y="1921872"/>
            <a:ext cx="13281750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DATAMODELL - HASHMAP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object 3"/>
          <p:cNvSpPr txBox="1"/>
          <p:nvPr/>
        </p:nvSpPr>
        <p:spPr>
          <a:xfrm>
            <a:off x="798196" y="3892608"/>
            <a:ext cx="18106506" cy="8704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00"/>
              <a:t> </a:t>
            </a:r>
            <a:r>
              <a:rPr baseline="0" spc="-1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4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ett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fingeravtryck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av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innehåll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10"/>
              <a:t> </a:t>
            </a:r>
            <a:r>
              <a:rPr baseline="0" spc="17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”Hello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4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world”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(bytes/innehåll)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45"/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802992c4220de19a90767f3000a79a31b98d0df7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1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(hash)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55"/>
              <a:t> </a:t>
            </a:r>
            <a:r>
              <a:rPr baseline="0" spc="17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”Hello</a:t>
            </a:r>
            <a:r>
              <a:rPr baseline="0" spc="-164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1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World”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557db03de997c86a4a028e1ebd3a1ceb225be238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10"/>
              <a:t> </a:t>
            </a:r>
            <a:r>
              <a:rPr baseline="0" spc="21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”Det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hela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började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24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att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jag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0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dag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4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ute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och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fiskade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då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jag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plötsligt….”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09"/>
              <a:t> </a:t>
            </a:r>
            <a:r>
              <a:rPr baseline="0" spc="17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6da9a4411d61f52221e55bc40dcd14d2a159d46e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10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echo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”Hello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world"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hash-object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15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—stdin</a:t>
            </a:r>
          </a:p>
        </p:txBody>
      </p:sp>
      <p:sp>
        <p:nvSpPr>
          <p:cNvPr id="251" name="object 2"/>
          <p:cNvSpPr txBox="1"/>
          <p:nvPr>
            <p:ph type="title"/>
          </p:nvPr>
        </p:nvSpPr>
        <p:spPr>
          <a:xfrm>
            <a:off x="798194" y="1921872"/>
            <a:ext cx="13281750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DATAMODELL - HASHMAP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object 3"/>
          <p:cNvSpPr txBox="1"/>
          <p:nvPr/>
        </p:nvSpPr>
        <p:spPr>
          <a:xfrm>
            <a:off x="798195" y="3892606"/>
            <a:ext cx="19419576" cy="8704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10"/>
              <a:t> </a:t>
            </a:r>
            <a:r>
              <a:rPr baseline="0" spc="7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Hashmap: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1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(hash)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4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aseline="0" spc="-17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(bytes/innehåll)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82"/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Hur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ser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i="1" spc="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hashmappen</a:t>
            </a:r>
            <a:r>
              <a:rPr baseline="0" i="1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då?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18"/>
              <a:t> </a:t>
            </a:r>
            <a:r>
              <a:rPr baseline="0" spc="4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Tillsammans: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1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Öppna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terminal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skapa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tom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1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mapp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gå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1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mapp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64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2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init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10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echo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”Hello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world"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hash-object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15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—stdin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-w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10"/>
              <a:t> </a:t>
            </a:r>
            <a:r>
              <a:rPr baseline="0" spc="21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Öppna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i="1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baseline="0" i="1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aseline="0" i="1" spc="7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hashmappen</a:t>
            </a:r>
            <a:r>
              <a:rPr baseline="0" spc="7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.git</a:t>
            </a:r>
            <a:r>
              <a:rPr baseline="0" spc="-9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(kan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inte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94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öppna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komprimerad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fil)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91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802992c4220de19a90767f3000a79a31b98d0df7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9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(typ)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00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802992c4220de19a90767f3000a79a31b98d0df7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-p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(pretty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print)</a:t>
            </a:r>
          </a:p>
        </p:txBody>
      </p:sp>
      <p:sp>
        <p:nvSpPr>
          <p:cNvPr id="254" name="object 2"/>
          <p:cNvSpPr txBox="1"/>
          <p:nvPr>
            <p:ph type="title"/>
          </p:nvPr>
        </p:nvSpPr>
        <p:spPr>
          <a:xfrm>
            <a:off x="798194" y="1921872"/>
            <a:ext cx="13281750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DATAMODELL - HASHMAP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object 3"/>
          <p:cNvSpPr txBox="1"/>
          <p:nvPr/>
        </p:nvSpPr>
        <p:spPr>
          <a:xfrm>
            <a:off x="798195" y="3883652"/>
            <a:ext cx="12101638" cy="8483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10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599"/>
              <a:t> </a:t>
            </a:r>
            <a:r>
              <a:rPr baseline="0" spc="14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45"/>
              <a:t> </a:t>
            </a:r>
            <a:r>
              <a:rPr baseline="0" spc="164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Öppna</a:t>
            </a:r>
            <a:r>
              <a:rPr baseline="0" spc="-109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recept-bok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63"/>
              <a:t> </a:t>
            </a:r>
            <a:r>
              <a:rPr baseline="0" spc="26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init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55"/>
              <a:t> </a:t>
            </a:r>
            <a:r>
              <a:rPr baseline="0" spc="26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63"/>
              <a:t> </a:t>
            </a:r>
            <a:r>
              <a:rPr baseline="0" spc="26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64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4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55"/>
              <a:t> </a:t>
            </a:r>
            <a:r>
              <a:rPr baseline="0" spc="26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63"/>
              <a:t> </a:t>
            </a:r>
            <a:r>
              <a:rPr baseline="0" spc="26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4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55"/>
              <a:t> </a:t>
            </a:r>
            <a:r>
              <a:rPr baseline="0" spc="26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700"/>
              <a:t> </a:t>
            </a:r>
            <a:r>
              <a:rPr baseline="0" spc="26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8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8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61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r>
              <a:rPr baseline="0" spc="-8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&lt;commit-id&gt;</a:t>
            </a:r>
            <a:r>
              <a:rPr baseline="0" spc="-91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6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(spåra</a:t>
            </a:r>
            <a:r>
              <a:rPr baseline="0" spc="-8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42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alla</a:t>
            </a:r>
            <a:r>
              <a:rPr baseline="0" spc="-8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object)</a:t>
            </a:r>
            <a:endParaRPr baseline="-4646" spc="-68" sz="31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5144" spc="-108" sz="49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673"/>
              <a:t> </a:t>
            </a:r>
            <a:r>
              <a:rPr baseline="0" spc="164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Öppna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i="1" spc="79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baseline="0" i="1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5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aseline="0" i="1" spc="5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hashmappen</a:t>
            </a:r>
            <a:r>
              <a:rPr baseline="0" spc="5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aseline="0" spc="-91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15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0" spc="-97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31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.git</a:t>
            </a:r>
          </a:p>
        </p:txBody>
      </p:sp>
      <p:pic>
        <p:nvPicPr>
          <p:cNvPr id="257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47951" y="4855131"/>
            <a:ext cx="9922568" cy="5650909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object 2"/>
          <p:cNvSpPr txBox="1"/>
          <p:nvPr>
            <p:ph type="title"/>
          </p:nvPr>
        </p:nvSpPr>
        <p:spPr>
          <a:xfrm>
            <a:off x="798194" y="1921872"/>
            <a:ext cx="13281750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DATAMODELL - HASHMAP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object 2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GIT OBJEKT</a:t>
            </a:r>
          </a:p>
        </p:txBody>
      </p:sp>
      <p:sp>
        <p:nvSpPr>
          <p:cNvPr id="261" name="object 3"/>
          <p:cNvSpPr txBox="1"/>
          <p:nvPr/>
        </p:nvSpPr>
        <p:spPr>
          <a:xfrm>
            <a:off x="798194" y="3676510"/>
            <a:ext cx="9706579" cy="5142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37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54"/>
              <a:t> </a:t>
            </a:r>
            <a:r>
              <a:rPr baseline="0" spc="5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Filer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(blobs)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45"/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Mappar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(trees)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18"/>
              <a:t> </a:t>
            </a:r>
            <a:r>
              <a:rPr baseline="0" spc="11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</a:p>
        </p:txBody>
      </p:sp>
      <p:pic>
        <p:nvPicPr>
          <p:cNvPr id="262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92703" y="3488561"/>
            <a:ext cx="10159288" cy="75305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object 3"/>
          <p:cNvSpPr txBox="1"/>
          <p:nvPr/>
        </p:nvSpPr>
        <p:spPr>
          <a:xfrm>
            <a:off x="798195" y="3892606"/>
            <a:ext cx="12662815" cy="8704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10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09"/>
              <a:t> </a:t>
            </a:r>
            <a:r>
              <a:rPr baseline="0" spc="18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72"/>
              <a:t> </a:t>
            </a:r>
            <a:r>
              <a:rPr baseline="0" spc="21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Öppna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recept-bok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82"/>
              <a:t> </a:t>
            </a:r>
            <a:r>
              <a:rPr baseline="0" spc="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Lägg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till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guacamole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till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”innehall.txt”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82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1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11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innehall.txt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91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-m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”second</a:t>
            </a:r>
            <a:r>
              <a:rPr baseline="0" spc="-10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24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commit”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00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-p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&lt;ny-tree-id&gt;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900"/>
              <a:t> </a:t>
            </a:r>
            <a:r>
              <a:rPr baseline="0" spc="346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45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-p</a:t>
            </a:r>
            <a:r>
              <a:rPr baseline="0" spc="-103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00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&lt;commit-id&gt;</a:t>
            </a:r>
            <a:endParaRPr baseline="-2809" spc="-84" sz="39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283969">
              <a:spcBef>
                <a:spcPts val="0"/>
              </a:spcBef>
              <a:defRPr baseline="-4024" spc="-136" sz="63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837"/>
              <a:t> </a:t>
            </a:r>
            <a:r>
              <a:rPr baseline="0" spc="138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Olika</a:t>
            </a:r>
            <a:r>
              <a:rPr baseline="0" spc="-127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49" sz="39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tree?</a:t>
            </a:r>
          </a:p>
        </p:txBody>
      </p:sp>
      <p:sp>
        <p:nvSpPr>
          <p:cNvPr id="265" name="object 2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97599" y="3015979"/>
            <a:ext cx="14263182" cy="10608240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object 2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object 3"/>
          <p:cNvSpPr txBox="1"/>
          <p:nvPr/>
        </p:nvSpPr>
        <p:spPr>
          <a:xfrm>
            <a:off x="798196" y="3887104"/>
            <a:ext cx="16900326" cy="643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01"/>
              <a:t> </a:t>
            </a:r>
            <a:r>
              <a:rPr baseline="0" spc="20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82"/>
              <a:t> </a:t>
            </a:r>
            <a:r>
              <a:rPr baseline="0" spc="39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1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count-objects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82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är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effektivt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sparande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73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komprimerar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100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sparar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16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så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7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lite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som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3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möjligt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4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(bara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diffar)</a:t>
            </a:r>
          </a:p>
        </p:txBody>
      </p:sp>
      <p:sp>
        <p:nvSpPr>
          <p:cNvPr id="271" name="object 2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object 3"/>
          <p:cNvSpPr txBox="1"/>
          <p:nvPr/>
        </p:nvSpPr>
        <p:spPr>
          <a:xfrm>
            <a:off x="798195" y="3887104"/>
            <a:ext cx="13342955" cy="1256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64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är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6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helt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enkelt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Graf!</a:t>
            </a:r>
          </a:p>
        </p:txBody>
      </p:sp>
      <p:grpSp>
        <p:nvGrpSpPr>
          <p:cNvPr id="276" name="object 4"/>
          <p:cNvGrpSpPr/>
          <p:nvPr/>
        </p:nvGrpSpPr>
        <p:grpSpPr>
          <a:xfrm>
            <a:off x="975404" y="5438259"/>
            <a:ext cx="11206131" cy="6757598"/>
            <a:chOff x="0" y="0"/>
            <a:chExt cx="11206129" cy="6757597"/>
          </a:xfrm>
        </p:grpSpPr>
        <p:pic>
          <p:nvPicPr>
            <p:cNvPr id="274" name="object 5" descr="object 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1206130" cy="67575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5" name="object 6"/>
            <p:cNvSpPr/>
            <p:nvPr/>
          </p:nvSpPr>
          <p:spPr>
            <a:xfrm>
              <a:off x="3342239" y="441487"/>
              <a:ext cx="5592644" cy="109153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>
                <a:defRPr>
                  <a:solidFill>
                    <a:srgbClr val="838787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</a:p>
          </p:txBody>
        </p:sp>
      </p:grpSp>
      <p:sp>
        <p:nvSpPr>
          <p:cNvPr id="277" name="GIT OBJEKT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  <a:defRPr b="1" sz="7200">
                <a:solidFill>
                  <a:schemeClr val="accent1"/>
                </a:solidFill>
              </a:defRPr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object 3"/>
          <p:cNvSpPr txBox="1"/>
          <p:nvPr/>
        </p:nvSpPr>
        <p:spPr>
          <a:xfrm>
            <a:off x="798195" y="3887104"/>
            <a:ext cx="12702434" cy="1256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64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är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6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helt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enkelt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Graf!</a:t>
            </a:r>
          </a:p>
        </p:txBody>
      </p:sp>
      <p:pic>
        <p:nvPicPr>
          <p:cNvPr id="280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90233" y="5605445"/>
            <a:ext cx="2857300" cy="28573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3" name="object 5"/>
          <p:cNvGrpSpPr/>
          <p:nvPr/>
        </p:nvGrpSpPr>
        <p:grpSpPr>
          <a:xfrm>
            <a:off x="975405" y="5605076"/>
            <a:ext cx="12075625" cy="6899966"/>
            <a:chOff x="0" y="0"/>
            <a:chExt cx="12075624" cy="6899965"/>
          </a:xfrm>
        </p:grpSpPr>
        <p:pic>
          <p:nvPicPr>
            <p:cNvPr id="281" name="object 6" descr="object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2075625" cy="689996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2" name="object 7"/>
            <p:cNvSpPr/>
            <p:nvPr/>
          </p:nvSpPr>
          <p:spPr>
            <a:xfrm>
              <a:off x="3469781" y="412969"/>
              <a:ext cx="5838812" cy="107980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>
                <a:defRPr>
                  <a:solidFill>
                    <a:srgbClr val="838787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</a:p>
          </p:txBody>
        </p:sp>
      </p:grpSp>
      <p:sp>
        <p:nvSpPr>
          <p:cNvPr id="284" name="GIT OBJEKT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  <a:defRPr b="1" sz="7200">
                <a:solidFill>
                  <a:schemeClr val="accent1"/>
                </a:solidFill>
              </a:defRPr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object 3"/>
          <p:cNvSpPr txBox="1"/>
          <p:nvPr/>
        </p:nvSpPr>
        <p:spPr>
          <a:xfrm>
            <a:off x="798195" y="3887104"/>
            <a:ext cx="12702434" cy="1256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64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är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6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helt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enkelt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Graf!</a:t>
            </a:r>
          </a:p>
        </p:txBody>
      </p:sp>
      <p:pic>
        <p:nvPicPr>
          <p:cNvPr id="287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3800" y="5637348"/>
            <a:ext cx="12313920" cy="5279376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GIT OBJEKT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  <a:defRPr b="1" sz="7200">
                <a:solidFill>
                  <a:schemeClr val="accent1"/>
                </a:solidFill>
              </a:defRPr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object 3"/>
          <p:cNvSpPr txBox="1"/>
          <p:nvPr/>
        </p:nvSpPr>
        <p:spPr>
          <a:xfrm>
            <a:off x="798194" y="3676510"/>
            <a:ext cx="8690579" cy="6437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37"/>
              <a:t> </a:t>
            </a:r>
            <a:r>
              <a:rPr baseline="0" spc="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54"/>
              <a:t> </a:t>
            </a:r>
            <a:r>
              <a:rPr baseline="0" spc="5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Filer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(blobs)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45"/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Mappar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(trees)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18"/>
              <a:t> </a:t>
            </a:r>
            <a:r>
              <a:rPr baseline="0" spc="11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18"/>
              <a:t> </a:t>
            </a:r>
            <a:r>
              <a:rPr baseline="0" i="1" spc="-4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Taggar</a:t>
            </a:r>
          </a:p>
        </p:txBody>
      </p:sp>
      <p:pic>
        <p:nvPicPr>
          <p:cNvPr id="291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92703" y="3488561"/>
            <a:ext cx="10159288" cy="7530573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object 2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object 3"/>
          <p:cNvSpPr txBox="1"/>
          <p:nvPr/>
        </p:nvSpPr>
        <p:spPr>
          <a:xfrm>
            <a:off x="798195" y="3887104"/>
            <a:ext cx="12270221" cy="1256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402">
              <a:spcBef>
                <a:spcPts val="10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82"/>
              <a:t> </a:t>
            </a:r>
            <a:r>
              <a:rPr baseline="0" spc="1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Taggar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alias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för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9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baseline="0" spc="-13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7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</a:p>
        </p:txBody>
      </p:sp>
      <p:pic>
        <p:nvPicPr>
          <p:cNvPr id="295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74886" y="5243267"/>
            <a:ext cx="17725735" cy="6193035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GIT OBJEKT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  <a:defRPr b="1" sz="7200">
                <a:solidFill>
                  <a:schemeClr val="accent1"/>
                </a:solidFill>
              </a:defRPr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object 3"/>
          <p:cNvSpPr txBox="1"/>
          <p:nvPr/>
        </p:nvSpPr>
        <p:spPr>
          <a:xfrm>
            <a:off x="798196" y="3887104"/>
            <a:ext cx="16616183" cy="5142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5240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01"/>
              <a:t> </a:t>
            </a:r>
            <a:r>
              <a:rPr baseline="0" spc="200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100"/>
              <a:t> </a:t>
            </a:r>
            <a:r>
              <a:rPr baseline="0" spc="39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6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-a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v1.0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-m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2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”Guacamole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-4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aseline="0" spc="-13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03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tha</a:t>
            </a:r>
            <a:r>
              <a:rPr baseline="0" spc="-127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33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bomb!”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45"/>
              <a:t> </a:t>
            </a:r>
            <a:r>
              <a:rPr baseline="0" spc="39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5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82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endParaRPr baseline="-2900" spc="-98" sz="4800">
              <a:solidFill>
                <a:srgbClr val="8387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49605">
              <a:spcBef>
                <a:spcPts val="0"/>
              </a:spcBef>
              <a:defRPr baseline="-4016" spc="-154" sz="7500">
                <a:solidFill>
                  <a:schemeClr val="accent1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▸</a:t>
            </a:r>
            <a:r>
              <a:rPr spc="1064"/>
              <a:t> </a:t>
            </a:r>
            <a:r>
              <a:rPr baseline="0" spc="394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261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85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cat-file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158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-p</a:t>
            </a:r>
            <a:r>
              <a:rPr baseline="0" spc="-146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0" spc="79" sz="4800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rPr>
              <a:t>v1.0</a:t>
            </a:r>
          </a:p>
        </p:txBody>
      </p:sp>
      <p:sp>
        <p:nvSpPr>
          <p:cNvPr id="299" name="object 2"/>
          <p:cNvSpPr txBox="1"/>
          <p:nvPr>
            <p:ph type="title"/>
          </p:nvPr>
        </p:nvSpPr>
        <p:spPr>
          <a:xfrm>
            <a:off x="798195" y="1921872"/>
            <a:ext cx="6588198" cy="1123549"/>
          </a:xfrm>
          <a:prstGeom prst="rect">
            <a:avLst/>
          </a:prstGeom>
        </p:spPr>
        <p:txBody>
          <a:bodyPr/>
          <a:lstStyle>
            <a:lvl1pPr indent="15402">
              <a:spcBef>
                <a:spcPts val="100"/>
              </a:spcBef>
            </a:lvl1pPr>
          </a:lstStyle>
          <a:p>
            <a:pPr/>
            <a:r>
              <a:t>GIT OBJEKT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222222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222222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